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</p:sldMasterIdLst>
  <p:notesMasterIdLst>
    <p:notesMasterId r:id="rId11"/>
  </p:notesMasterIdLst>
  <p:sldIdLst>
    <p:sldId id="260" r:id="rId2"/>
    <p:sldId id="261" r:id="rId3"/>
    <p:sldId id="348" r:id="rId4"/>
    <p:sldId id="342" r:id="rId5"/>
    <p:sldId id="343" r:id="rId6"/>
    <p:sldId id="344" r:id="rId7"/>
    <p:sldId id="345" r:id="rId8"/>
    <p:sldId id="346" r:id="rId9"/>
    <p:sldId id="347" r:id="rId10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DM Serif Display" panose="020B0604020202020204" charset="0"/>
      <p:regular r:id="rId18"/>
      <p:italic r:id="rId19"/>
    </p:embeddedFont>
    <p:embeddedFont>
      <p:font typeface="Karla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143421-9569-41A1-B785-C69CC4788A69}">
  <a:tblStyle styleId="{43143421-9569-41A1-B785-C69CC4788A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4353" autoAdjust="0"/>
  </p:normalViewPr>
  <p:slideViewPr>
    <p:cSldViewPr snapToGrid="0">
      <p:cViewPr>
        <p:scale>
          <a:sx n="75" d="100"/>
          <a:sy n="75" d="100"/>
        </p:scale>
        <p:origin x="1236" y="4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d3c3787e4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d3c3787e4d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e643cbc4f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e643cbc4f6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e643cbc4f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e643cbc4f6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494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36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158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58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7018400" y="-1769425"/>
            <a:ext cx="1733750" cy="394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143088" y="1694737"/>
            <a:ext cx="3538475" cy="20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0725" y="2721400"/>
            <a:ext cx="1666150" cy="16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597377">
            <a:off x="-1389774" y="772793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531525" y="-1746625"/>
            <a:ext cx="1446050" cy="32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0900" y="-333175"/>
            <a:ext cx="1730375" cy="15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83650" y="1533327"/>
            <a:ext cx="3776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83500" y="2353900"/>
            <a:ext cx="3777000" cy="14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905281">
            <a:off x="1835275" y="-2291450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">
            <a:off x="618850" y="-1483600"/>
            <a:ext cx="3810950" cy="273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82886">
            <a:off x="790253" y="2486470"/>
            <a:ext cx="1774245" cy="403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7253475" y="355656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4511836">
            <a:off x="7354915" y="2408773"/>
            <a:ext cx="1697478" cy="1643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8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665181">
            <a:off x="3700" y="-621650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39250">
            <a:off x="563096" y="1270047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727850" y="-4606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026875" y="-188249"/>
            <a:ext cx="1572000" cy="20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4654575" y="1442965"/>
            <a:ext cx="3776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"/>
          </p:nvPr>
        </p:nvSpPr>
        <p:spPr>
          <a:xfrm>
            <a:off x="4654425" y="2278254"/>
            <a:ext cx="3777000" cy="14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511709">
            <a:off x="1241850" y="4271705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511836">
            <a:off x="2521265" y="2057048"/>
            <a:ext cx="1697478" cy="164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39250">
            <a:off x="1811646" y="-855003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-694950" y="3552826"/>
            <a:ext cx="1572000" cy="20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_1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178600" y="16076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956358">
            <a:off x="5559239" y="-1676283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32425" y="2105999"/>
            <a:ext cx="2786538" cy="216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119786" y="3372335"/>
            <a:ext cx="2058291" cy="199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6645600" y="36980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 flipH="1">
            <a:off x="7220750" y="359375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58732">
            <a:off x="-399179" y="-654803"/>
            <a:ext cx="2002458" cy="455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5" r:id="rId3"/>
    <p:sldLayoutId id="2147483658" r:id="rId4"/>
    <p:sldLayoutId id="2147483661" r:id="rId5"/>
    <p:sldLayoutId id="2147483694" r:id="rId6"/>
    <p:sldLayoutId id="2147483696" r:id="rId7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7"/>
          <p:cNvSpPr txBox="1">
            <a:spLocks noGrp="1"/>
          </p:cNvSpPr>
          <p:nvPr>
            <p:ph type="title"/>
          </p:nvPr>
        </p:nvSpPr>
        <p:spPr>
          <a:xfrm>
            <a:off x="1233875" y="1638431"/>
            <a:ext cx="6676249" cy="933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spc="300" dirty="0"/>
              <a:t>HEALTHCONNECT</a:t>
            </a:r>
            <a:endParaRPr sz="5400" spc="300" dirty="0"/>
          </a:p>
        </p:txBody>
      </p:sp>
      <p:sp>
        <p:nvSpPr>
          <p:cNvPr id="541" name="Google Shape;541;p57"/>
          <p:cNvSpPr txBox="1">
            <a:spLocks noGrp="1"/>
          </p:cNvSpPr>
          <p:nvPr>
            <p:ph type="subTitle" idx="1"/>
          </p:nvPr>
        </p:nvSpPr>
        <p:spPr>
          <a:xfrm>
            <a:off x="2034557" y="2571750"/>
            <a:ext cx="4789355" cy="457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Final Analytics &amp; Decision Support Package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8"/>
          <p:cNvSpPr txBox="1">
            <a:spLocks noGrp="1"/>
          </p:cNvSpPr>
          <p:nvPr>
            <p:ph type="title"/>
          </p:nvPr>
        </p:nvSpPr>
        <p:spPr>
          <a:xfrm>
            <a:off x="4368800" y="1025584"/>
            <a:ext cx="3776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Problem</a:t>
            </a:r>
            <a:endParaRPr dirty="0"/>
          </a:p>
        </p:txBody>
      </p:sp>
      <p:sp>
        <p:nvSpPr>
          <p:cNvPr id="547" name="Google Shape;547;p58"/>
          <p:cNvSpPr txBox="1">
            <a:spLocks noGrp="1"/>
          </p:cNvSpPr>
          <p:nvPr>
            <p:ph type="subTitle" idx="1"/>
          </p:nvPr>
        </p:nvSpPr>
        <p:spPr>
          <a:xfrm>
            <a:off x="4738357" y="1794777"/>
            <a:ext cx="4069312" cy="24724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48.46%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scheduled appointments end in a no-show. Nearly half of all clinical capacity booked is never used.
This project set out to answer: which factors actually drive no-shows, and how can HealthConnect target interventions efficiently rather than applying a costly, clinic-wide fix?</a:t>
            </a:r>
            <a:endParaRPr lang="en-US" sz="4000" dirty="0"/>
          </a:p>
          <a:p>
            <a:pPr marL="0" lvl="0" indent="0" algn="l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EF42-9078-4F2F-8896-38F27579C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399" y="405814"/>
            <a:ext cx="7717500" cy="572700"/>
          </a:xfrm>
        </p:spPr>
        <p:txBody>
          <a:bodyPr/>
          <a:lstStyle/>
          <a:p>
            <a:r>
              <a:rPr lang="en-US" sz="4400" dirty="0"/>
              <a:t>DATA &amp; KPIs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742724-7D90-4659-BD8B-DF7EDECF81AB}"/>
              </a:ext>
            </a:extLst>
          </p:cNvPr>
          <p:cNvSpPr/>
          <p:nvPr/>
        </p:nvSpPr>
        <p:spPr>
          <a:xfrm>
            <a:off x="80139" y="1497693"/>
            <a:ext cx="2926081" cy="21481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4AD6E8-AC32-4951-8429-B114517D3601}"/>
              </a:ext>
            </a:extLst>
          </p:cNvPr>
          <p:cNvSpPr/>
          <p:nvPr/>
        </p:nvSpPr>
        <p:spPr>
          <a:xfrm>
            <a:off x="3181119" y="1497693"/>
            <a:ext cx="2626617" cy="21481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510ED4-D0B2-474B-8064-B598685A9A89}"/>
              </a:ext>
            </a:extLst>
          </p:cNvPr>
          <p:cNvSpPr/>
          <p:nvPr/>
        </p:nvSpPr>
        <p:spPr>
          <a:xfrm>
            <a:off x="5982634" y="1468483"/>
            <a:ext cx="3081227" cy="21481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F43C325-816C-4A89-BD4F-606AF953F84A}"/>
              </a:ext>
            </a:extLst>
          </p:cNvPr>
          <p:cNvSpPr txBox="1"/>
          <p:nvPr/>
        </p:nvSpPr>
        <p:spPr>
          <a:xfrm>
            <a:off x="947991" y="1497488"/>
            <a:ext cx="129545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2C7A190-90DF-4CBE-A97C-CBD8D963D362}"/>
              </a:ext>
            </a:extLst>
          </p:cNvPr>
          <p:cNvSpPr txBox="1"/>
          <p:nvPr/>
        </p:nvSpPr>
        <p:spPr>
          <a:xfrm>
            <a:off x="894674" y="1954847"/>
            <a:ext cx="15001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48.46%</a:t>
            </a:r>
            <a:endParaRPr lang="en-US" sz="3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9F49031-7253-49AF-B19D-569AB505D9C3}"/>
              </a:ext>
            </a:extLst>
          </p:cNvPr>
          <p:cNvSpPr txBox="1"/>
          <p:nvPr/>
        </p:nvSpPr>
        <p:spPr>
          <a:xfrm>
            <a:off x="668606" y="3002211"/>
            <a:ext cx="2060302" cy="419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2,423 of 5,000 appointments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034F0BF-EA5E-4D3C-B11D-FDC6B90F7A02}"/>
              </a:ext>
            </a:extLst>
          </p:cNvPr>
          <p:cNvSpPr txBox="1"/>
          <p:nvPr/>
        </p:nvSpPr>
        <p:spPr>
          <a:xfrm>
            <a:off x="3522907" y="1405527"/>
            <a:ext cx="19200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Effectiveness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05B71B0-7AFC-4663-A272-853413BB7E2D}"/>
              </a:ext>
            </a:extLst>
          </p:cNvPr>
          <p:cNvSpPr txBox="1"/>
          <p:nvPr/>
        </p:nvSpPr>
        <p:spPr>
          <a:xfrm>
            <a:off x="3794304" y="2017306"/>
            <a:ext cx="15553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4.03pp</a:t>
            </a:r>
            <a:endParaRPr lang="en-US" sz="3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6A9B17D-D697-4F9D-A168-DB680E690C74}"/>
              </a:ext>
            </a:extLst>
          </p:cNvPr>
          <p:cNvSpPr txBox="1"/>
          <p:nvPr/>
        </p:nvSpPr>
        <p:spPr>
          <a:xfrm>
            <a:off x="3264537" y="2874408"/>
            <a:ext cx="2614874" cy="572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significant, modest effect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3A02DD-DECA-4EBC-8020-48577E175DC2}"/>
              </a:ext>
            </a:extLst>
          </p:cNvPr>
          <p:cNvSpPr txBox="1"/>
          <p:nvPr/>
        </p:nvSpPr>
        <p:spPr>
          <a:xfrm>
            <a:off x="6241004" y="1405527"/>
            <a:ext cx="25219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Repeat-Offender Concentration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533146-FD24-41BD-AC64-380C0FB584FC}"/>
              </a:ext>
            </a:extLst>
          </p:cNvPr>
          <p:cNvSpPr txBox="1"/>
          <p:nvPr/>
        </p:nvSpPr>
        <p:spPr>
          <a:xfrm>
            <a:off x="6738594" y="2017123"/>
            <a:ext cx="156930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72.43%</a:t>
            </a:r>
            <a:endParaRPr lang="en-US" sz="3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37D5F7-0891-4116-AA76-3A1518C391EE}"/>
              </a:ext>
            </a:extLst>
          </p:cNvPr>
          <p:cNvSpPr txBox="1"/>
          <p:nvPr/>
        </p:nvSpPr>
        <p:spPr>
          <a:xfrm>
            <a:off x="6054309" y="2612118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patients drive this share of no-shows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24718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chart_effect_size.png">
            <a:extLst>
              <a:ext uri="{FF2B5EF4-FFF2-40B4-BE49-F238E27FC236}">
                <a16:creationId xmlns:a16="http://schemas.microsoft.com/office/drawing/2014/main" id="{49A687C8-C53B-4DDD-B4EC-4AD1712E4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96" y="1684900"/>
            <a:ext cx="4352205" cy="26113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7477E1-7E19-4664-8AB3-7493F6FF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324075"/>
            <a:ext cx="7717500" cy="572700"/>
          </a:xfrm>
        </p:spPr>
        <p:txBody>
          <a:bodyPr/>
          <a:lstStyle/>
          <a:p>
            <a:r>
              <a:rPr lang="en-US" sz="4000" dirty="0"/>
              <a:t>VALIDATED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6891D-AD81-41EF-AFA1-16DB7D01C35C}"/>
              </a:ext>
            </a:extLst>
          </p:cNvPr>
          <p:cNvSpPr txBox="1"/>
          <p:nvPr/>
        </p:nvSpPr>
        <p:spPr>
          <a:xfrm>
            <a:off x="2144250" y="1066024"/>
            <a:ext cx="6286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and t-tests confirm all three factors are statistically real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B40C8-ADB5-484B-A0D5-577B74D8C3F4}"/>
              </a:ext>
            </a:extLst>
          </p:cNvPr>
          <p:cNvSpPr txBox="1"/>
          <p:nvPr/>
        </p:nvSpPr>
        <p:spPr>
          <a:xfrm>
            <a:off x="5505450" y="1850828"/>
            <a:ext cx="32793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Booking lead time </a:t>
            </a:r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is the strongest validated driver (p=1.07×10⁻⁹⁰, d=0.60) far outweighing reminders and distance in practical effect.
</a:t>
            </a:r>
            <a:r>
              <a:rPr lang="en-US" sz="1400" b="1" dirty="0">
                <a:solidFill>
                  <a:schemeClr val="tx1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Reminders </a:t>
            </a:r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400" b="1" dirty="0">
                <a:solidFill>
                  <a:schemeClr val="tx1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distance </a:t>
            </a:r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are statistically significant but practically modest real, supporting levers, not primary fixes.</a:t>
            </a:r>
            <a:endParaRPr 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23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8"/>
          <p:cNvSpPr txBox="1">
            <a:spLocks noGrp="1"/>
          </p:cNvSpPr>
          <p:nvPr>
            <p:ph type="title"/>
          </p:nvPr>
        </p:nvSpPr>
        <p:spPr>
          <a:xfrm>
            <a:off x="4136695" y="541670"/>
            <a:ext cx="4845269" cy="13125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No-Show Concentration</a:t>
            </a:r>
            <a:endParaRPr dirty="0"/>
          </a:p>
        </p:txBody>
      </p:sp>
      <p:sp>
        <p:nvSpPr>
          <p:cNvPr id="547" name="Google Shape;547;p58"/>
          <p:cNvSpPr txBox="1">
            <a:spLocks noGrp="1"/>
          </p:cNvSpPr>
          <p:nvPr>
            <p:ph type="subTitle" idx="1"/>
          </p:nvPr>
        </p:nvSpPr>
        <p:spPr>
          <a:xfrm>
            <a:off x="4751057" y="1997977"/>
            <a:ext cx="4069312" cy="24724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ClrTx/>
              <a:buSzTx/>
            </a:pPr>
            <a:r>
              <a:rPr lang="en-US" sz="2200" b="1" kern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</a:t>
            </a:r>
            <a:r>
              <a:rPr lang="en-US" sz="1400" kern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(679 of 1,696) have 2+ prior no-shows.
They account for 72.4% of all no-show appointments. No-shows are concentrated, not evenly spread, supporting a targeted rather than blanket intervention.</a:t>
            </a:r>
            <a:endParaRPr lang="en-US" sz="2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0" lvl="0" indent="0"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572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0C908-4FE7-4A7F-B66F-C6A23BE8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BUSINESS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C6AFF-14CF-4213-A958-00B652DEA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0168" y="1417001"/>
            <a:ext cx="6843663" cy="2797647"/>
          </a:xfrm>
        </p:spPr>
        <p:txBody>
          <a:bodyPr/>
          <a:lstStyle/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scheduled capacity is lost to no-shows. A structural, not marginal, problem.</a:t>
            </a:r>
          </a:p>
          <a:p>
            <a:endParaRPr lang="en-US" sz="1400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 is the most actionable, statistically strongest driver.</a:t>
            </a:r>
          </a:p>
          <a:p>
            <a:endParaRPr lang="en-US" sz="1400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clinic is a real but modest access barrier, pointing toward logistics-based fixes.</a:t>
            </a:r>
            <a:endParaRPr lang="en-US" sz="1400" dirty="0"/>
          </a:p>
          <a:p>
            <a:endParaRPr lang="en-US" sz="1400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help but aren't sufficient alone. They’re necessary, but not sufficient.</a:t>
            </a:r>
            <a:endParaRPr lang="en-US" sz="1400" dirty="0"/>
          </a:p>
          <a:p>
            <a:endParaRPr lang="en-US" sz="1400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concentrate in a definable patient group. A targeted intervention beats blanket policy.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marL="15240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38016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0C908-4FE7-4A7F-B66F-C6A23BE8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RECOMMENDATIONS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AF0CA14-A1A1-4D94-8327-CEF0C9DCE1C4}"/>
              </a:ext>
            </a:extLst>
          </p:cNvPr>
          <p:cNvSpPr txBox="1"/>
          <p:nvPr/>
        </p:nvSpPr>
        <p:spPr>
          <a:xfrm>
            <a:off x="914400" y="1400303"/>
            <a:ext cx="2856546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booking lead-time cap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4DC24AD-F13F-441C-A36C-E4CE7E608DFE}"/>
              </a:ext>
            </a:extLst>
          </p:cNvPr>
          <p:cNvSpPr txBox="1"/>
          <p:nvPr/>
        </p:nvSpPr>
        <p:spPr>
          <a:xfrm>
            <a:off x="4840782" y="1402730"/>
            <a:ext cx="3388818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both no-shows and cancellations.</a:t>
            </a:r>
            <a:endParaRPr lang="en-US" sz="13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FA167B3-D032-491B-B3D9-71D42C042007}"/>
              </a:ext>
            </a:extLst>
          </p:cNvPr>
          <p:cNvSpPr txBox="1"/>
          <p:nvPr/>
        </p:nvSpPr>
        <p:spPr>
          <a:xfrm>
            <a:off x="914400" y="2227056"/>
            <a:ext cx="2856546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repeat no-show patients directly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0A34BB1-F2C3-4D43-A4F7-6D2AE2420C00}"/>
              </a:ext>
            </a:extLst>
          </p:cNvPr>
          <p:cNvSpPr txBox="1"/>
          <p:nvPr/>
        </p:nvSpPr>
        <p:spPr>
          <a:xfrm>
            <a:off x="4840782" y="2141920"/>
            <a:ext cx="4036423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confirmation steps for the 40% of patients driving 72% of losses.</a:t>
            </a:r>
            <a:endParaRPr lang="en-US" sz="13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C5F67C07-CFF1-4974-AB32-178B290232B8}"/>
              </a:ext>
            </a:extLst>
          </p:cNvPr>
          <p:cNvSpPr txBox="1"/>
          <p:nvPr/>
        </p:nvSpPr>
        <p:spPr>
          <a:xfrm>
            <a:off x="914400" y="3014173"/>
            <a:ext cx="2856546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distant patients with logistics fixes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EB3E4E6D-076A-4FC0-902E-0F3FFC378B59}"/>
              </a:ext>
            </a:extLst>
          </p:cNvPr>
          <p:cNvSpPr txBox="1"/>
          <p:nvPr/>
        </p:nvSpPr>
        <p:spPr>
          <a:xfrm>
            <a:off x="4840782" y="3014173"/>
            <a:ext cx="4036423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clinic or telehealth for follow-ups, paired with reminders.</a:t>
            </a:r>
            <a:endParaRPr lang="en-US" sz="13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604ECD18-E926-41FA-BEC5-A46BE24EBE50}"/>
              </a:ext>
            </a:extLst>
          </p:cNvPr>
          <p:cNvSpPr txBox="1"/>
          <p:nvPr/>
        </p:nvSpPr>
        <p:spPr>
          <a:xfrm>
            <a:off x="914400" y="3874706"/>
            <a:ext cx="2856546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reminders as a supporting measure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FB772CCE-919E-492A-B8CE-C7F092473583}"/>
              </a:ext>
            </a:extLst>
          </p:cNvPr>
          <p:cNvSpPr txBox="1"/>
          <p:nvPr/>
        </p:nvSpPr>
        <p:spPr>
          <a:xfrm>
            <a:off x="4840781" y="3815241"/>
            <a:ext cx="4036423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effect, but not sufficient as a standalone fix.</a:t>
            </a:r>
            <a:endParaRPr lang="en-US" sz="13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A1E7B09C-1CC0-461C-BF87-CAE39AEAD8E6}"/>
              </a:ext>
            </a:extLst>
          </p:cNvPr>
          <p:cNvSpPr txBox="1"/>
          <p:nvPr/>
        </p:nvSpPr>
        <p:spPr>
          <a:xfrm>
            <a:off x="914400" y="4530587"/>
            <a:ext cx="2856546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on an ongoing dashboard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08B21CA9-6BE7-4659-B6DF-93EFFAB9CD46}"/>
              </a:ext>
            </a:extLst>
          </p:cNvPr>
          <p:cNvSpPr txBox="1"/>
          <p:nvPr/>
        </p:nvSpPr>
        <p:spPr>
          <a:xfrm>
            <a:off x="4840781" y="4536756"/>
            <a:ext cx="4036423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No-Show Rate, Reminder Lift, and Repeat-Offender Concentration over time.</a:t>
            </a:r>
            <a:endParaRPr lang="en-US" sz="13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33C7BF-6D61-481D-A663-A521A78A86E3}"/>
              </a:ext>
            </a:extLst>
          </p:cNvPr>
          <p:cNvCxnSpPr/>
          <p:nvPr/>
        </p:nvCxnSpPr>
        <p:spPr>
          <a:xfrm>
            <a:off x="3857297" y="1604954"/>
            <a:ext cx="714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01D495-A426-4B85-BEA5-E1C723373BB5}"/>
              </a:ext>
            </a:extLst>
          </p:cNvPr>
          <p:cNvCxnSpPr/>
          <p:nvPr/>
        </p:nvCxnSpPr>
        <p:spPr>
          <a:xfrm>
            <a:off x="3857297" y="2346571"/>
            <a:ext cx="714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B6A8A2-E401-4864-AEA7-41770C74AA3B}"/>
              </a:ext>
            </a:extLst>
          </p:cNvPr>
          <p:cNvCxnSpPr/>
          <p:nvPr/>
        </p:nvCxnSpPr>
        <p:spPr>
          <a:xfrm>
            <a:off x="3857297" y="3218824"/>
            <a:ext cx="714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332FAD-9BB0-4890-ADA2-4E718CFB7564}"/>
              </a:ext>
            </a:extLst>
          </p:cNvPr>
          <p:cNvCxnSpPr/>
          <p:nvPr/>
        </p:nvCxnSpPr>
        <p:spPr>
          <a:xfrm>
            <a:off x="3857297" y="4019892"/>
            <a:ext cx="714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968341-E948-4C77-8057-549EB7B7B585}"/>
              </a:ext>
            </a:extLst>
          </p:cNvPr>
          <p:cNvCxnSpPr/>
          <p:nvPr/>
        </p:nvCxnSpPr>
        <p:spPr>
          <a:xfrm>
            <a:off x="3857297" y="4737364"/>
            <a:ext cx="714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ircle: Hollow 19">
            <a:extLst>
              <a:ext uri="{FF2B5EF4-FFF2-40B4-BE49-F238E27FC236}">
                <a16:creationId xmlns:a16="http://schemas.microsoft.com/office/drawing/2014/main" id="{D7B71D46-E0F9-49BB-AA23-AEC1CC81C566}"/>
              </a:ext>
            </a:extLst>
          </p:cNvPr>
          <p:cNvSpPr/>
          <p:nvPr/>
        </p:nvSpPr>
        <p:spPr>
          <a:xfrm>
            <a:off x="727461" y="1553791"/>
            <a:ext cx="100588" cy="102326"/>
          </a:xfrm>
          <a:prstGeom prst="don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5BB69809-2D15-4A88-BAD7-5EB157BBC09D}"/>
              </a:ext>
            </a:extLst>
          </p:cNvPr>
          <p:cNvSpPr/>
          <p:nvPr/>
        </p:nvSpPr>
        <p:spPr>
          <a:xfrm>
            <a:off x="727461" y="2294592"/>
            <a:ext cx="100588" cy="102326"/>
          </a:xfrm>
          <a:prstGeom prst="don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ADC02E8F-4BC7-4E3B-8FD4-3006C69A0090}"/>
              </a:ext>
            </a:extLst>
          </p:cNvPr>
          <p:cNvSpPr/>
          <p:nvPr/>
        </p:nvSpPr>
        <p:spPr>
          <a:xfrm>
            <a:off x="727461" y="3116498"/>
            <a:ext cx="100588" cy="102326"/>
          </a:xfrm>
          <a:prstGeom prst="don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189C0FA5-E2AB-4872-B166-21D1A729BF70}"/>
              </a:ext>
            </a:extLst>
          </p:cNvPr>
          <p:cNvSpPr/>
          <p:nvPr/>
        </p:nvSpPr>
        <p:spPr>
          <a:xfrm>
            <a:off x="727461" y="3989967"/>
            <a:ext cx="100588" cy="102326"/>
          </a:xfrm>
          <a:prstGeom prst="don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149B2220-2610-4C72-B7D1-0A1C9785AAD0}"/>
              </a:ext>
            </a:extLst>
          </p:cNvPr>
          <p:cNvSpPr/>
          <p:nvPr/>
        </p:nvSpPr>
        <p:spPr>
          <a:xfrm>
            <a:off x="727461" y="4684075"/>
            <a:ext cx="100588" cy="102326"/>
          </a:xfrm>
          <a:prstGeom prst="don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056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0C908-4FE7-4A7F-B66F-C6A23BE8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CROSS-TRACK COLLABORATION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C6AFF-14CF-4213-A958-00B652DEA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1669" y="1141399"/>
            <a:ext cx="2907482" cy="572701"/>
          </a:xfrm>
        </p:spPr>
        <p:txBody>
          <a:bodyPr/>
          <a:lstStyle/>
          <a:p>
            <a:pPr marL="15240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↔ Data Science</a:t>
            </a:r>
            <a:endParaRPr lang="en-US" sz="1400" dirty="0"/>
          </a:p>
          <a:p>
            <a:pPr marL="152400" indent="0">
              <a:buNone/>
            </a:pP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3B87058-F353-408B-8BE6-0B386C30A5F6}"/>
              </a:ext>
            </a:extLst>
          </p:cNvPr>
          <p:cNvSpPr txBox="1"/>
          <p:nvPr/>
        </p:nvSpPr>
        <p:spPr>
          <a:xfrm>
            <a:off x="2107629" y="1606209"/>
            <a:ext cx="2182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provided:</a:t>
            </a:r>
            <a:endParaRPr lang="en-US" sz="15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DE4A5EA-3CFB-48B4-8629-FF3FB39D5EA2}"/>
              </a:ext>
            </a:extLst>
          </p:cNvPr>
          <p:cNvSpPr txBox="1"/>
          <p:nvPr/>
        </p:nvSpPr>
        <p:spPr>
          <a:xfrm>
            <a:off x="2107629" y="286726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received:</a:t>
            </a:r>
            <a:endParaRPr lang="en-US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1E5FA1-DB12-44D6-8993-0E548675D4C2}"/>
              </a:ext>
            </a:extLst>
          </p:cNvPr>
          <p:cNvSpPr txBox="1"/>
          <p:nvPr/>
        </p:nvSpPr>
        <p:spPr>
          <a:xfrm>
            <a:off x="1934381" y="1980468"/>
            <a:ext cx="4314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findings (effect sizes + p-values) and a flagged data-quality issue in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waiting_time_minutes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4823C-6C10-4FB8-8722-2A62BAF20154}"/>
              </a:ext>
            </a:extLst>
          </p:cNvPr>
          <p:cNvSpPr txBox="1"/>
          <p:nvPr/>
        </p:nvSpPr>
        <p:spPr>
          <a:xfrm>
            <a:off x="1934381" y="3280322"/>
            <a:ext cx="4314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which factors would strengthen the analysis for model-readiness, and confirmation that the booking lead-time finding was the most model-relevant result.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96270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0C908-4FE7-4A7F-B66F-C6A23BE8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EXECUTIVE </a:t>
            </a:r>
            <a:r>
              <a:rPr lang="en-US" sz="4000" dirty="0"/>
              <a:t>SUMMARY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C6AFF-14CF-4213-A958-00B652DEA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343" y="1684900"/>
            <a:ext cx="7574382" cy="2030757"/>
          </a:xfrm>
        </p:spPr>
        <p:txBody>
          <a:bodyPr/>
          <a:lstStyle/>
          <a:p>
            <a:pPr marL="152400" indent="0">
              <a:buNone/>
            </a:pPr>
            <a:r>
              <a:rPr lang="en-US" sz="1400" dirty="0"/>
              <a:t>HealthConnect loses nearly half its scheduled capacity to no-shows. Statistical testing confirms booking lead time as the strongest, most actionable driver, supported by a smaller but real influence from distance and reminders. No-shows concentrate in a definable 40% of patients, who drive 72% of the problem, making a targeted intervention strategy both effective and efficient.</a:t>
            </a:r>
          </a:p>
          <a:p>
            <a:pPr marL="152400" indent="0">
              <a:buNone/>
            </a:pPr>
            <a:endParaRPr lang="en-US" sz="1400" dirty="0"/>
          </a:p>
          <a:p>
            <a:pPr marL="152400" indent="0">
              <a:buNone/>
            </a:pPr>
            <a:r>
              <a:rPr lang="en-US" sz="1400" b="1" dirty="0"/>
              <a:t>Recommended next step</a:t>
            </a:r>
          </a:p>
          <a:p>
            <a:pPr marL="152400" indent="0">
              <a:buNone/>
            </a:pPr>
            <a:r>
              <a:rPr lang="en-US" sz="1400" dirty="0"/>
              <a:t>Introduce a booking lead-time cap and a targeted outreach program for repeat no-show patients.</a:t>
            </a:r>
          </a:p>
          <a:p>
            <a:pPr marL="15240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65147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Minimalist Hepatitis Clinical Case by Slidesgo">
  <a:themeElements>
    <a:clrScheme name="Simple Light">
      <a:dk1>
        <a:srgbClr val="000000"/>
      </a:dk1>
      <a:lt1>
        <a:srgbClr val="FFFFFF"/>
      </a:lt1>
      <a:dk2>
        <a:srgbClr val="06688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502</Words>
  <Application>Microsoft Office PowerPoint</Application>
  <PresentationFormat>On-screen Show (16:9)</PresentationFormat>
  <Paragraphs>52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Karla</vt:lpstr>
      <vt:lpstr>DM Serif Display</vt:lpstr>
      <vt:lpstr>Bahnschrift</vt:lpstr>
      <vt:lpstr>Arial</vt:lpstr>
      <vt:lpstr>Calibri</vt:lpstr>
      <vt:lpstr>Minimalist Hepatitis Clinical Case by Slidesgo</vt:lpstr>
      <vt:lpstr>HEALTHCONNECT</vt:lpstr>
      <vt:lpstr>The Problem</vt:lpstr>
      <vt:lpstr>DATA &amp; KPIs</vt:lpstr>
      <vt:lpstr>VALIDATED FINDINGS</vt:lpstr>
      <vt:lpstr>No-Show Concentration</vt:lpstr>
      <vt:lpstr>BUSINESS INSIGHTS</vt:lpstr>
      <vt:lpstr>RECOMMENDATIONS</vt:lpstr>
      <vt:lpstr>CROSS-TRACK COLLABORATION</vt:lpstr>
      <vt:lpstr>EXECUTIVE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</dc:title>
  <cp:lastModifiedBy>Dee</cp:lastModifiedBy>
  <cp:revision>8</cp:revision>
  <dcterms:modified xsi:type="dcterms:W3CDTF">2026-09-23T14:21:40Z</dcterms:modified>
</cp:coreProperties>
</file>